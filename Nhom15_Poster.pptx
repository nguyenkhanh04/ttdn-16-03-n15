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3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 showGuides="1">
      <p:cViewPr>
        <p:scale>
          <a:sx n="125" d="100"/>
          <a:sy n="125" d="100"/>
        </p:scale>
        <p:origin x="1066" y="-4075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132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250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024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506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525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432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794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958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842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430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977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5511AC-980B-485A-851E-DBD0B8F4CBAD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738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>
            <a:extLst>
              <a:ext uri="{FF2B5EF4-FFF2-40B4-BE49-F238E27FC236}">
                <a16:creationId xmlns:a16="http://schemas.microsoft.com/office/drawing/2014/main" id="{34C510F2-7255-D7C3-9DCD-43BEBE1666BB}"/>
              </a:ext>
            </a:extLst>
          </p:cNvPr>
          <p:cNvGrpSpPr/>
          <p:nvPr/>
        </p:nvGrpSpPr>
        <p:grpSpPr>
          <a:xfrm>
            <a:off x="6009740" y="1966271"/>
            <a:ext cx="683266" cy="212921"/>
            <a:chOff x="6071533" y="2181217"/>
            <a:chExt cx="683266" cy="215444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A57E6C6-5BC4-200A-55C5-E63038F9478E}"/>
                </a:ext>
              </a:extLst>
            </p:cNvPr>
            <p:cNvSpPr txBox="1"/>
            <p:nvPr/>
          </p:nvSpPr>
          <p:spPr>
            <a:xfrm>
              <a:off x="6105590" y="2181217"/>
              <a:ext cx="649209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800" b="1" dirty="0" err="1">
                  <a:latin typeface="Arial Hebrew Scholar" pitchFamily="2" charset="-79"/>
                  <a:cs typeface="Arial Hebrew Scholar" pitchFamily="2" charset="-79"/>
                </a:rPr>
                <a:t>Github</a:t>
              </a:r>
              <a:endParaRPr lang="en-US" sz="800" b="1" dirty="0">
                <a:latin typeface="Arial Hebrew Scholar" pitchFamily="2" charset="-79"/>
                <a:cs typeface="Arial Hebrew Scholar" pitchFamily="2" charset="-79"/>
              </a:endParaRPr>
            </a:p>
          </p:txBody>
        </p:sp>
        <p:pic>
          <p:nvPicPr>
            <p:cNvPr id="1028" name="Picture 4" descr="Github Logo - Free social media icons">
              <a:extLst>
                <a:ext uri="{FF2B5EF4-FFF2-40B4-BE49-F238E27FC236}">
                  <a16:creationId xmlns:a16="http://schemas.microsoft.com/office/drawing/2014/main" id="{4C95027D-6E4F-D713-8DAE-329A92FB3C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 flipV="1">
              <a:off x="6071533" y="2197843"/>
              <a:ext cx="166522" cy="1665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DEBFABA5-206B-548E-3C0E-CC2EE202AB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8912812"/>
              </p:ext>
            </p:extLst>
          </p:nvPr>
        </p:nvGraphicFramePr>
        <p:xfrm>
          <a:off x="71979" y="2356347"/>
          <a:ext cx="3890421" cy="14331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0421">
                  <a:extLst>
                    <a:ext uri="{9D8B030D-6E8A-4147-A177-3AD203B41FA5}">
                      <a16:colId xmlns:a16="http://schemas.microsoft.com/office/drawing/2014/main" val="1520847292"/>
                    </a:ext>
                  </a:extLst>
                </a:gridCol>
              </a:tblGrid>
              <a:tr h="24380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Giới thiệu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013272"/>
                  </a:ext>
                </a:extLst>
              </a:tr>
              <a:tr h="1189349">
                <a:tc>
                  <a:txBody>
                    <a:bodyPr/>
                    <a:lstStyle/>
                    <a:p>
                      <a:pPr algn="just"/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Hệ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thống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được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xây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dựng</a:t>
                      </a:r>
                      <a:r>
                        <a:rPr lang="vi-VN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để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vi-VN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quản lý </a:t>
                      </a:r>
                      <a:r>
                        <a:rPr lang="vi-VN" sz="9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tài sản &amp; phòng họp </a:t>
                      </a:r>
                      <a:r>
                        <a:rPr lang="vi-VN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của một tổ chức. 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Các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chức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năng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của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hệ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thống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bao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gồm</a:t>
                      </a:r>
                      <a:r>
                        <a:rPr lang="vi-VN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</a:t>
                      </a:r>
                    </a:p>
                    <a:p>
                      <a:pPr marL="457200" indent="-171450" algn="just">
                        <a:buFont typeface="Arial" panose="020B0604020202020204" pitchFamily="34" charset="0"/>
                        <a:buChar char="•"/>
                      </a:pPr>
                      <a:r>
                        <a:rPr lang="vi-VN" sz="9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Dashboard tổng quan </a:t>
                      </a:r>
                      <a:r>
                        <a:rPr lang="en-US" sz="9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(Số lượng loại, giá trị và trạng thái)</a:t>
                      </a:r>
                    </a:p>
                    <a:p>
                      <a:pPr marL="457200" indent="-171450" algn="just">
                        <a:buFont typeface="Arial" panose="020B0604020202020204" pitchFamily="34" charset="0"/>
                        <a:buChar char="•"/>
                      </a:pPr>
                      <a:r>
                        <a:rPr lang="vi-VN" sz="9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Quản lý phòng họp, tài sản và loại tài sản</a:t>
                      </a:r>
                    </a:p>
                    <a:p>
                      <a:pPr marL="457200" indent="-171450" algn="just">
                        <a:buFont typeface="Arial" panose="020B0604020202020204" pitchFamily="34" charset="0"/>
                        <a:buChar char="•"/>
                      </a:pPr>
                      <a:r>
                        <a:rPr lang="vi-VN" sz="9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Phân bổ và cấp phát tài sản </a:t>
                      </a:r>
                      <a:endParaRPr lang="en-US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457200" indent="-171450" algn="just">
                        <a:buFont typeface="Arial" panose="020B0604020202020204" pitchFamily="34" charset="0"/>
                        <a:buChar char="•"/>
                      </a:pPr>
                      <a:r>
                        <a:rPr lang="vi-VN" sz="9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Quản lý </a:t>
                      </a:r>
                      <a:r>
                        <a:rPr lang="en-US" sz="9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phiếu</a:t>
                      </a:r>
                      <a:r>
                        <a:rPr lang="vi-VN" sz="9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mượn,  tài sản </a:t>
                      </a:r>
                    </a:p>
                    <a:p>
                      <a:pPr marL="457200" indent="-1714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9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Quản lý phiếu bảo trì tài sản và nhận lại tài sản</a:t>
                      </a:r>
                      <a:endParaRPr lang="vi-VN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457200" marR="0" lvl="0" indent="-171450" algn="just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vi-VN" sz="9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Kiểm kê</a:t>
                      </a:r>
                      <a:r>
                        <a:rPr lang="en-US" sz="9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điều chuyển,</a:t>
                      </a:r>
                      <a:r>
                        <a:rPr lang="vi-VN" sz="9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</a:t>
                      </a:r>
                      <a:r>
                        <a:rPr lang="vi-VN" sz="9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hấu hao </a:t>
                      </a:r>
                      <a:r>
                        <a:rPr lang="en-US" sz="9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và</a:t>
                      </a:r>
                      <a:r>
                        <a:rPr lang="vi-VN" sz="9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thanh lý</a:t>
                      </a:r>
                      <a:r>
                        <a:rPr lang="vi-VN" sz="9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tài sản</a:t>
                      </a:r>
                      <a:endParaRPr lang="vi-VN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830843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6751592-98ED-BE76-ED93-630A31DCD2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1851273"/>
              </p:ext>
            </p:extLst>
          </p:nvPr>
        </p:nvGraphicFramePr>
        <p:xfrm>
          <a:off x="4027952" y="2360409"/>
          <a:ext cx="2789416" cy="22896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9416">
                  <a:extLst>
                    <a:ext uri="{9D8B030D-6E8A-4147-A177-3AD203B41FA5}">
                      <a16:colId xmlns:a16="http://schemas.microsoft.com/office/drawing/2014/main" val="1520847292"/>
                    </a:ext>
                  </a:extLst>
                </a:gridCol>
              </a:tblGrid>
              <a:tr h="252445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Kiến trúc hệ thống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013272"/>
                  </a:ext>
                </a:extLst>
              </a:tr>
              <a:tr h="203719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830843"/>
                  </a:ext>
                </a:extLst>
              </a:tr>
            </a:tbl>
          </a:graphicData>
        </a:graphic>
      </p:graphicFrame>
      <p:grpSp>
        <p:nvGrpSpPr>
          <p:cNvPr id="70" name="Group 69">
            <a:extLst>
              <a:ext uri="{FF2B5EF4-FFF2-40B4-BE49-F238E27FC236}">
                <a16:creationId xmlns:a16="http://schemas.microsoft.com/office/drawing/2014/main" id="{518BA7C7-D5B3-521F-4863-EB6372F08A16}"/>
              </a:ext>
            </a:extLst>
          </p:cNvPr>
          <p:cNvGrpSpPr/>
          <p:nvPr/>
        </p:nvGrpSpPr>
        <p:grpSpPr>
          <a:xfrm>
            <a:off x="0" y="-39866"/>
            <a:ext cx="6858000" cy="2289646"/>
            <a:chOff x="0" y="-40063"/>
            <a:chExt cx="6858000" cy="2289646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076F30E7-DE29-4869-A261-9356210766F3}"/>
                </a:ext>
              </a:extLst>
            </p:cNvPr>
            <p:cNvGrpSpPr/>
            <p:nvPr/>
          </p:nvGrpSpPr>
          <p:grpSpPr>
            <a:xfrm>
              <a:off x="0" y="-40063"/>
              <a:ext cx="6858000" cy="1149907"/>
              <a:chOff x="0" y="-40063"/>
              <a:chExt cx="6858000" cy="1149907"/>
            </a:xfrm>
          </p:grpSpPr>
          <p:pic>
            <p:nvPicPr>
              <p:cNvPr id="39" name="Picture 38">
                <a:extLst>
                  <a:ext uri="{FF2B5EF4-FFF2-40B4-BE49-F238E27FC236}">
                    <a16:creationId xmlns:a16="http://schemas.microsoft.com/office/drawing/2014/main" id="{7ABF4E65-9336-CED4-40B5-828F0E50C5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-1275"/>
                <a:ext cx="6858000" cy="1111119"/>
              </a:xfrm>
              <a:prstGeom prst="rect">
                <a:avLst/>
              </a:prstGeom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6C724AE-79C3-CBF7-13D9-AFB8C50186BA}"/>
                  </a:ext>
                </a:extLst>
              </p:cNvPr>
              <p:cNvSpPr txBox="1"/>
              <p:nvPr/>
            </p:nvSpPr>
            <p:spPr>
              <a:xfrm>
                <a:off x="2370087" y="-40063"/>
                <a:ext cx="21291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b="1">
                    <a:solidFill>
                      <a:schemeClr val="bg1"/>
                    </a:solidFill>
                    <a:latin typeface="Arial Hebrew Scholar" pitchFamily="2" charset="-79"/>
                    <a:cs typeface="Arial Hebrew Scholar" pitchFamily="2" charset="-79"/>
                  </a:rPr>
                  <a:t>TRƯỜNG ĐẠI HỌC ĐẠI NAM</a:t>
                </a:r>
              </a:p>
              <a:p>
                <a:pPr algn="ctr"/>
                <a:r>
                  <a:rPr lang="en-US" sz="1000" b="1">
                    <a:solidFill>
                      <a:schemeClr val="bg1"/>
                    </a:solidFill>
                    <a:latin typeface="Arial Hebrew Scholar" pitchFamily="2" charset="-79"/>
                    <a:cs typeface="Arial Hebrew Scholar" pitchFamily="2" charset="-79"/>
                  </a:rPr>
                  <a:t>KHOA CÔNG NGHỆ THÔNG TIN</a:t>
                </a:r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36EBD40C-8A27-10B2-BA61-9E94053E57EA}"/>
                </a:ext>
              </a:extLst>
            </p:cNvPr>
            <p:cNvGrpSpPr/>
            <p:nvPr/>
          </p:nvGrpSpPr>
          <p:grpSpPr>
            <a:xfrm>
              <a:off x="0" y="1082578"/>
              <a:ext cx="6858000" cy="1167005"/>
              <a:chOff x="0" y="1082578"/>
              <a:chExt cx="6858000" cy="1167005"/>
            </a:xfrm>
          </p:grpSpPr>
          <p:sp>
            <p:nvSpPr>
              <p:cNvPr id="5" name="Title 1">
                <a:extLst>
                  <a:ext uri="{FF2B5EF4-FFF2-40B4-BE49-F238E27FC236}">
                    <a16:creationId xmlns:a16="http://schemas.microsoft.com/office/drawing/2014/main" id="{3D9E4F7B-BDBB-AF4A-B4AD-63280788DEC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1082578"/>
                <a:ext cx="6765928" cy="329891"/>
              </a:xfrm>
              <a:prstGeom prst="rect">
                <a:avLst/>
              </a:prstGeom>
            </p:spPr>
            <p:txBody>
              <a:bodyPr vert="horz" lIns="20299" tIns="10150" rIns="20299" bIns="10150" rtlCol="0" anchor="ctr">
                <a:noAutofit/>
              </a:bodyPr>
              <a:lstStyle>
                <a:lvl1pPr algn="ctr" defTabSz="288036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189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sz="1200" b="1" dirty="0" err="1">
                    <a:solidFill>
                      <a:schemeClr val="accent2"/>
                    </a:solidFill>
                    <a:latin typeface="Arial Hebrew Scholar" pitchFamily="2" charset="-79"/>
                    <a:cs typeface="Arial Hebrew Scholar" pitchFamily="2" charset="-79"/>
                  </a:rPr>
                  <a:t>ERP: HỆ THỐNG QUẢN LÝ </a:t>
                </a:r>
                <a:r>
                  <a:rPr lang="en-US" sz="1200" b="1" err="1">
                    <a:solidFill>
                      <a:schemeClr val="accent2"/>
                    </a:solidFill>
                    <a:latin typeface="Arial Hebrew Scholar" pitchFamily="2" charset="-79"/>
                    <a:cs typeface="Arial Hebrew Scholar" pitchFamily="2" charset="-79"/>
                  </a:rPr>
                  <a:t>TÀI </a:t>
                </a:r>
                <a:r>
                  <a:rPr lang="en-US" sz="1200" b="1">
                    <a:solidFill>
                      <a:schemeClr val="accent2"/>
                    </a:solidFill>
                    <a:latin typeface="Arial Hebrew Scholar" pitchFamily="2" charset="-79"/>
                    <a:cs typeface="Arial Hebrew Scholar" pitchFamily="2" charset="-79"/>
                  </a:rPr>
                  <a:t>SẢN</a:t>
                </a:r>
                <a:r>
                  <a:rPr lang="vi-VN" sz="1200" b="1">
                    <a:solidFill>
                      <a:schemeClr val="accent2"/>
                    </a:solidFill>
                    <a:latin typeface="Arial Hebrew Scholar" pitchFamily="2" charset="-79"/>
                    <a:cs typeface="Arial Hebrew Scholar" pitchFamily="2" charset="-79"/>
                  </a:rPr>
                  <a:t> &amp; PHÒNG HỌP</a:t>
                </a:r>
                <a:endParaRPr lang="en-US" sz="1200" b="1" dirty="0">
                  <a:solidFill>
                    <a:schemeClr val="accent2"/>
                  </a:solidFill>
                  <a:latin typeface="Arial Hebrew Scholar" pitchFamily="2" charset="-79"/>
                  <a:cs typeface="Arial Hebrew Scholar" pitchFamily="2" charset="-79"/>
                </a:endParaRPr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DB71301-74E9-3D33-787D-882C46CB1337}"/>
                  </a:ext>
                </a:extLst>
              </p:cNvPr>
              <p:cNvSpPr/>
              <p:nvPr/>
            </p:nvSpPr>
            <p:spPr>
              <a:xfrm>
                <a:off x="0" y="1337994"/>
                <a:ext cx="6858000" cy="14559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vi-VN" sz="799" b="1"/>
                  <a:t>Nguyễn Ngọc Khánh, Cao Văn Huy, Bùi Văn Tiến</a:t>
                </a:r>
                <a:endParaRPr lang="en-US" sz="799" b="1" dirty="0"/>
              </a:p>
            </p:txBody>
          </p:sp>
          <p:pic>
            <p:nvPicPr>
              <p:cNvPr id="63" name="Picture 62">
                <a:extLst>
                  <a:ext uri="{FF2B5EF4-FFF2-40B4-BE49-F238E27FC236}">
                    <a16:creationId xmlns:a16="http://schemas.microsoft.com/office/drawing/2014/main" id="{77C1551A-D245-378A-F0E2-59C5BABF9F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20895" y="1512206"/>
                <a:ext cx="1616210" cy="737377"/>
              </a:xfrm>
              <a:prstGeom prst="rect">
                <a:avLst/>
              </a:prstGeom>
            </p:spPr>
          </p:pic>
        </p:grpSp>
      </p:grpSp>
      <p:graphicFrame>
        <p:nvGraphicFramePr>
          <p:cNvPr id="73" name="Table 72">
            <a:extLst>
              <a:ext uri="{FF2B5EF4-FFF2-40B4-BE49-F238E27FC236}">
                <a16:creationId xmlns:a16="http://schemas.microsoft.com/office/drawing/2014/main" id="{1CED74D1-B04A-EC38-34C4-DD7DDC4463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6846593"/>
              </p:ext>
            </p:extLst>
          </p:nvPr>
        </p:nvGraphicFramePr>
        <p:xfrm>
          <a:off x="4027952" y="4670365"/>
          <a:ext cx="2789415" cy="19260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9415">
                  <a:extLst>
                    <a:ext uri="{9D8B030D-6E8A-4147-A177-3AD203B41FA5}">
                      <a16:colId xmlns:a16="http://schemas.microsoft.com/office/drawing/2014/main" val="1520847292"/>
                    </a:ext>
                  </a:extLst>
                </a:gridCol>
              </a:tblGrid>
              <a:tr h="255726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Công nghệ sử dụng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013272"/>
                  </a:ext>
                </a:extLst>
              </a:tr>
              <a:tr h="1670284">
                <a:tc>
                  <a:txBody>
                    <a:bodyPr/>
                    <a:lstStyle/>
                    <a:p>
                      <a:pPr algn="just"/>
                      <a:endParaRPr lang="vi-VN" sz="900">
                        <a:latin typeface="Arial" panose="020B0604020202020204" pitchFamily="34" charset="0"/>
                        <a:cs typeface="Arial Hebrew Scholar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830843"/>
                  </a:ext>
                </a:extLst>
              </a:tr>
            </a:tbl>
          </a:graphicData>
        </a:graphic>
      </p:graphicFrame>
      <p:pic>
        <p:nvPicPr>
          <p:cNvPr id="72" name="Picture 71">
            <a:extLst>
              <a:ext uri="{FF2B5EF4-FFF2-40B4-BE49-F238E27FC236}">
                <a16:creationId xmlns:a16="http://schemas.microsoft.com/office/drawing/2014/main" id="{023B2A99-2661-4945-745B-F6C3161DB1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3334" y="4963336"/>
            <a:ext cx="2378325" cy="1608543"/>
          </a:xfrm>
          <a:prstGeom prst="rect">
            <a:avLst/>
          </a:prstGeom>
        </p:spPr>
      </p:pic>
      <p:graphicFrame>
        <p:nvGraphicFramePr>
          <p:cNvPr id="82" name="Table 81">
            <a:extLst>
              <a:ext uri="{FF2B5EF4-FFF2-40B4-BE49-F238E27FC236}">
                <a16:creationId xmlns:a16="http://schemas.microsoft.com/office/drawing/2014/main" id="{232FA873-71B4-C434-9F8C-88FB366D90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5999620"/>
              </p:ext>
            </p:extLst>
          </p:nvPr>
        </p:nvGraphicFramePr>
        <p:xfrm>
          <a:off x="71978" y="3794556"/>
          <a:ext cx="3890421" cy="60551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0421">
                  <a:extLst>
                    <a:ext uri="{9D8B030D-6E8A-4147-A177-3AD203B41FA5}">
                      <a16:colId xmlns:a16="http://schemas.microsoft.com/office/drawing/2014/main" val="1520847292"/>
                    </a:ext>
                  </a:extLst>
                </a:gridCol>
              </a:tblGrid>
              <a:tr h="122328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Giao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diện</a:t>
                      </a: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ứng</a:t>
                      </a: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dụng</a:t>
                      </a:r>
                      <a:endParaRPr lang="en-US" sz="10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013272"/>
                  </a:ext>
                </a:extLst>
              </a:tr>
              <a:tr h="5811342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7733821"/>
                  </a:ext>
                </a:extLst>
              </a:tr>
            </a:tbl>
          </a:graphicData>
        </a:graphic>
      </p:graphicFrame>
      <p:graphicFrame>
        <p:nvGraphicFramePr>
          <p:cNvPr id="89" name="Table 88">
            <a:extLst>
              <a:ext uri="{FF2B5EF4-FFF2-40B4-BE49-F238E27FC236}">
                <a16:creationId xmlns:a16="http://schemas.microsoft.com/office/drawing/2014/main" id="{F959286E-D53A-FB49-5826-7326306DBE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9971899"/>
              </p:ext>
            </p:extLst>
          </p:nvPr>
        </p:nvGraphicFramePr>
        <p:xfrm>
          <a:off x="4027951" y="6619313"/>
          <a:ext cx="2789417" cy="14261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9417">
                  <a:extLst>
                    <a:ext uri="{9D8B030D-6E8A-4147-A177-3AD203B41FA5}">
                      <a16:colId xmlns:a16="http://schemas.microsoft.com/office/drawing/2014/main" val="1520847292"/>
                    </a:ext>
                  </a:extLst>
                </a:gridCol>
              </a:tblGrid>
              <a:tr h="146514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Platform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013272"/>
                  </a:ext>
                </a:extLst>
              </a:tr>
              <a:tr h="118234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830843"/>
                  </a:ext>
                </a:extLst>
              </a:tr>
            </a:tbl>
          </a:graphicData>
        </a:graphic>
      </p:graphicFrame>
      <p:graphicFrame>
        <p:nvGraphicFramePr>
          <p:cNvPr id="90" name="Table 89">
            <a:extLst>
              <a:ext uri="{FF2B5EF4-FFF2-40B4-BE49-F238E27FC236}">
                <a16:creationId xmlns:a16="http://schemas.microsoft.com/office/drawing/2014/main" id="{0335167A-EED6-A656-BA4F-2AD2225BD2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4100784"/>
              </p:ext>
            </p:extLst>
          </p:nvPr>
        </p:nvGraphicFramePr>
        <p:xfrm>
          <a:off x="4027950" y="8068432"/>
          <a:ext cx="2789417" cy="14261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9417">
                  <a:extLst>
                    <a:ext uri="{9D8B030D-6E8A-4147-A177-3AD203B41FA5}">
                      <a16:colId xmlns:a16="http://schemas.microsoft.com/office/drawing/2014/main" val="1520847292"/>
                    </a:ext>
                  </a:extLst>
                </a:gridCol>
              </a:tblGrid>
              <a:tr h="146514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Hướng phát triển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013272"/>
                  </a:ext>
                </a:extLst>
              </a:tr>
              <a:tr h="1182341">
                <a:tc>
                  <a:txBody>
                    <a:bodyPr/>
                    <a:lstStyle/>
                    <a:p>
                      <a:r>
                        <a:rPr lang="en-US" sz="1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Phát</a:t>
                      </a:r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triển</a:t>
                      </a:r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thêm</a:t>
                      </a:r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các</a:t>
                      </a:r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chức</a:t>
                      </a:r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năng</a:t>
                      </a:r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</a:t>
                      </a:r>
                    </a:p>
                    <a:p>
                      <a:pPr marL="346075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Chức</a:t>
                      </a:r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năng</a:t>
                      </a:r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ký</a:t>
                      </a:r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xác</a:t>
                      </a:r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nhận</a:t>
                      </a:r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trả</a:t>
                      </a:r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tài</a:t>
                      </a:r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sản</a:t>
                      </a:r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346075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Chức</a:t>
                      </a:r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năng</a:t>
                      </a:r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thông</a:t>
                      </a:r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báo</a:t>
                      </a:r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thời</a:t>
                      </a:r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gian</a:t>
                      </a:r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mượn</a:t>
                      </a:r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sz="1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trả</a:t>
                      </a:r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tài</a:t>
                      </a:r>
                      <a:r>
                        <a:rPr lang="en-US" sz="1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vi-VN" sz="1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sản</a:t>
                      </a:r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346075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Chức</a:t>
                      </a:r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năng</a:t>
                      </a:r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thông</a:t>
                      </a:r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báo</a:t>
                      </a:r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trạng</a:t>
                      </a:r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thái</a:t>
                      </a:r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tài</a:t>
                      </a:r>
                      <a:r>
                        <a:rPr lang="en-US" sz="1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sản</a:t>
                      </a:r>
                      <a:endParaRPr lang="vi-VN" sz="1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346075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vi-VN" sz="1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Tính năng nổi bật Chatbot AI: </a:t>
                      </a:r>
                      <a:r>
                        <a:rPr lang="vi-VN" sz="1000" i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vi-VN" sz="1000" b="0" i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đã triển khai)</a:t>
                      </a:r>
                      <a:endParaRPr lang="en-US" sz="1000" b="0" i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830843"/>
                  </a:ext>
                </a:extLst>
              </a:tr>
            </a:tbl>
          </a:graphicData>
        </a:graphic>
      </p:graphicFrame>
      <p:sp>
        <p:nvSpPr>
          <p:cNvPr id="92" name="TextBox 91">
            <a:extLst>
              <a:ext uri="{FF2B5EF4-FFF2-40B4-BE49-F238E27FC236}">
                <a16:creationId xmlns:a16="http://schemas.microsoft.com/office/drawing/2014/main" id="{A0C06921-7CE0-2846-54DF-FEF2E2972390}"/>
              </a:ext>
            </a:extLst>
          </p:cNvPr>
          <p:cNvSpPr txBox="1"/>
          <p:nvPr/>
        </p:nvSpPr>
        <p:spPr>
          <a:xfrm>
            <a:off x="3943438" y="9586860"/>
            <a:ext cx="295843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50" dirty="0">
                <a:latin typeface="Arial" panose="020B0604020202020204" pitchFamily="34" charset="0"/>
                <a:cs typeface="Arial Hebrew Scholar"/>
              </a:rPr>
              <a:t>©</a:t>
            </a:r>
            <a:r>
              <a:rPr lang="en-US" sz="750" dirty="0" err="1">
                <a:latin typeface="Arial" panose="020B0604020202020204" pitchFamily="34" charset="0"/>
                <a:cs typeface="Arial Hebrew Scholar"/>
              </a:rPr>
              <a:t>AIoTLab</a:t>
            </a:r>
            <a:r>
              <a:rPr lang="en-US" sz="750" dirty="0">
                <a:latin typeface="Arial" panose="020B0604020202020204" pitchFamily="34" charset="0"/>
                <a:cs typeface="Arial Hebrew Scholar"/>
              </a:rPr>
              <a:t>, Faculty of Information Technology, </a:t>
            </a:r>
            <a:r>
              <a:rPr lang="en-US" sz="750" dirty="0" err="1">
                <a:latin typeface="Arial" panose="020B0604020202020204" pitchFamily="34" charset="0"/>
                <a:cs typeface="Arial Hebrew Scholar"/>
              </a:rPr>
              <a:t>DaiNam</a:t>
            </a:r>
            <a:r>
              <a:rPr lang="en-US" sz="750" dirty="0">
                <a:latin typeface="Arial" panose="020B0604020202020204" pitchFamily="34" charset="0"/>
                <a:cs typeface="Arial Hebrew Scholar"/>
              </a:rPr>
              <a:t> University</a:t>
            </a:r>
          </a:p>
        </p:txBody>
      </p:sp>
      <p:grpSp>
        <p:nvGrpSpPr>
          <p:cNvPr id="1024" name="Group 1023">
            <a:extLst>
              <a:ext uri="{FF2B5EF4-FFF2-40B4-BE49-F238E27FC236}">
                <a16:creationId xmlns:a16="http://schemas.microsoft.com/office/drawing/2014/main" id="{744A033B-ADB1-65DC-6E8B-77A248771067}"/>
              </a:ext>
            </a:extLst>
          </p:cNvPr>
          <p:cNvGrpSpPr/>
          <p:nvPr/>
        </p:nvGrpSpPr>
        <p:grpSpPr>
          <a:xfrm>
            <a:off x="4535229" y="7599157"/>
            <a:ext cx="683266" cy="362763"/>
            <a:chOff x="6071533" y="2197843"/>
            <a:chExt cx="683266" cy="367061"/>
          </a:xfrm>
        </p:grpSpPr>
        <p:sp>
          <p:nvSpPr>
            <p:cNvPr id="1025" name="TextBox 1024">
              <a:extLst>
                <a:ext uri="{FF2B5EF4-FFF2-40B4-BE49-F238E27FC236}">
                  <a16:creationId xmlns:a16="http://schemas.microsoft.com/office/drawing/2014/main" id="{F232106F-BB02-AEDC-69E9-2BDE01BDE00D}"/>
                </a:ext>
              </a:extLst>
            </p:cNvPr>
            <p:cNvSpPr txBox="1"/>
            <p:nvPr/>
          </p:nvSpPr>
          <p:spPr>
            <a:xfrm>
              <a:off x="6105590" y="2222338"/>
              <a:ext cx="649209" cy="3425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800" b="1">
                  <a:latin typeface="Arial Hebrew Scholar" pitchFamily="2" charset="-79"/>
                  <a:cs typeface="Arial Hebrew Scholar" pitchFamily="2" charset="-79"/>
                </a:rPr>
                <a:t>Github Platform</a:t>
              </a:r>
              <a:endParaRPr lang="en-US" sz="800" b="1" dirty="0">
                <a:latin typeface="Arial Hebrew Scholar" pitchFamily="2" charset="-79"/>
                <a:cs typeface="Arial Hebrew Scholar" pitchFamily="2" charset="-79"/>
              </a:endParaRPr>
            </a:p>
          </p:txBody>
        </p:sp>
        <p:pic>
          <p:nvPicPr>
            <p:cNvPr id="1026" name="Picture 4" descr="Github Logo - Free social media icons">
              <a:extLst>
                <a:ext uri="{FF2B5EF4-FFF2-40B4-BE49-F238E27FC236}">
                  <a16:creationId xmlns:a16="http://schemas.microsoft.com/office/drawing/2014/main" id="{58468723-8BEE-E9A8-37F1-25D443A786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 flipV="1">
              <a:off x="6071533" y="2197843"/>
              <a:ext cx="166522" cy="1665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35" name="Group 1034">
            <a:extLst>
              <a:ext uri="{FF2B5EF4-FFF2-40B4-BE49-F238E27FC236}">
                <a16:creationId xmlns:a16="http://schemas.microsoft.com/office/drawing/2014/main" id="{CA4AE13E-261B-CCD9-0CCB-E209746E8442}"/>
              </a:ext>
            </a:extLst>
          </p:cNvPr>
          <p:cNvGrpSpPr/>
          <p:nvPr/>
        </p:nvGrpSpPr>
        <p:grpSpPr>
          <a:xfrm>
            <a:off x="5679061" y="6914401"/>
            <a:ext cx="725093" cy="1027194"/>
            <a:chOff x="5729861" y="6934721"/>
            <a:chExt cx="725093" cy="1027194"/>
          </a:xfrm>
        </p:grpSpPr>
        <p:pic>
          <p:nvPicPr>
            <p:cNvPr id="1029" name="Picture 1028">
              <a:extLst>
                <a:ext uri="{FF2B5EF4-FFF2-40B4-BE49-F238E27FC236}">
                  <a16:creationId xmlns:a16="http://schemas.microsoft.com/office/drawing/2014/main" id="{9A6FA28E-24A2-971C-1329-B9C39D8020D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729861" y="6934721"/>
              <a:ext cx="658860" cy="648000"/>
            </a:xfrm>
            <a:prstGeom prst="rect">
              <a:avLst/>
            </a:prstGeom>
          </p:spPr>
        </p:pic>
        <p:grpSp>
          <p:nvGrpSpPr>
            <p:cNvPr id="1031" name="Group 1030">
              <a:extLst>
                <a:ext uri="{FF2B5EF4-FFF2-40B4-BE49-F238E27FC236}">
                  <a16:creationId xmlns:a16="http://schemas.microsoft.com/office/drawing/2014/main" id="{CF614D1B-5E22-CCB8-7095-13F12F04FD96}"/>
                </a:ext>
              </a:extLst>
            </p:cNvPr>
            <p:cNvGrpSpPr/>
            <p:nvPr/>
          </p:nvGrpSpPr>
          <p:grpSpPr>
            <a:xfrm>
              <a:off x="5771688" y="7623361"/>
              <a:ext cx="683266" cy="338554"/>
              <a:chOff x="6071533" y="2191497"/>
              <a:chExt cx="683266" cy="342566"/>
            </a:xfrm>
          </p:grpSpPr>
          <p:sp>
            <p:nvSpPr>
              <p:cNvPr id="1032" name="TextBox 1031">
                <a:extLst>
                  <a:ext uri="{FF2B5EF4-FFF2-40B4-BE49-F238E27FC236}">
                    <a16:creationId xmlns:a16="http://schemas.microsoft.com/office/drawing/2014/main" id="{C3051B63-3463-6494-3CCA-F8F194D0A4B7}"/>
                  </a:ext>
                </a:extLst>
              </p:cNvPr>
              <p:cNvSpPr txBox="1"/>
              <p:nvPr/>
            </p:nvSpPr>
            <p:spPr>
              <a:xfrm>
                <a:off x="6105590" y="2191497"/>
                <a:ext cx="649209" cy="3425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800" b="1">
                    <a:latin typeface="Arial Hebrew Scholar" pitchFamily="2" charset="-79"/>
                    <a:cs typeface="Arial Hebrew Scholar" pitchFamily="2" charset="-79"/>
                  </a:rPr>
                  <a:t>Github FIT-DNU</a:t>
                </a:r>
                <a:endParaRPr lang="en-US" sz="800" b="1" dirty="0">
                  <a:latin typeface="Arial Hebrew Scholar" pitchFamily="2" charset="-79"/>
                  <a:cs typeface="Arial Hebrew Scholar" pitchFamily="2" charset="-79"/>
                </a:endParaRPr>
              </a:p>
            </p:txBody>
          </p:sp>
          <p:pic>
            <p:nvPicPr>
              <p:cNvPr id="1033" name="Picture 4" descr="Github Logo - Free social media icons">
                <a:extLst>
                  <a:ext uri="{FF2B5EF4-FFF2-40B4-BE49-F238E27FC236}">
                    <a16:creationId xmlns:a16="http://schemas.microsoft.com/office/drawing/2014/main" id="{E7E7E365-5E2E-837C-A71B-F336329B512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800000" flipV="1">
                <a:off x="6071533" y="2197843"/>
                <a:ext cx="166522" cy="16652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pic>
        <p:nvPicPr>
          <p:cNvPr id="13" name="Hình ảnh 12" descr="Ảnh có chứa mẫu, hình vuông, điểm ảnh, thiết kế&#10;&#10;Nội dung do AI tạo ra có thể không chính xác.">
            <a:extLst>
              <a:ext uri="{FF2B5EF4-FFF2-40B4-BE49-F238E27FC236}">
                <a16:creationId xmlns:a16="http://schemas.microsoft.com/office/drawing/2014/main" id="{1972004E-6C2D-41F5-D089-3148077E538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7540" y="1324924"/>
            <a:ext cx="646309" cy="64630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118E630-3965-AD13-0E7E-78F64CB64527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697" r="2473"/>
          <a:stretch>
            <a:fillRect/>
          </a:stretch>
        </p:blipFill>
        <p:spPr>
          <a:xfrm>
            <a:off x="125754" y="4295871"/>
            <a:ext cx="3803705" cy="170514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497B730-476D-9F1F-560A-C00685074B29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7409" r="365"/>
          <a:stretch>
            <a:fillRect/>
          </a:stretch>
        </p:blipFill>
        <p:spPr>
          <a:xfrm>
            <a:off x="193805" y="6121012"/>
            <a:ext cx="3649381" cy="157507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D33373C-584D-C173-AC00-CC640E45592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5526" y="7931085"/>
            <a:ext cx="3604159" cy="178427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44F18D8-526E-8FB3-6C0F-8B497A030D3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6434" y="6857537"/>
            <a:ext cx="751776" cy="75177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D5D2338-D03B-27A0-4E09-472131149C1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40"/>
          <a:stretch>
            <a:fillRect/>
          </a:stretch>
        </p:blipFill>
        <p:spPr>
          <a:xfrm>
            <a:off x="4066598" y="2817039"/>
            <a:ext cx="2691795" cy="1426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8698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688</TotalTime>
  <Words>203</Words>
  <Application>Microsoft Office PowerPoint</Application>
  <PresentationFormat>A4 Paper (210x297 mm)</PresentationFormat>
  <Paragraphs>26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Arial Hebrew Scholar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Thái Khánh Nguyễn</dc:creator>
  <cp:lastModifiedBy>taokhanhok@hotmail.com</cp:lastModifiedBy>
  <cp:revision>97</cp:revision>
  <dcterms:created xsi:type="dcterms:W3CDTF">2023-07-02T07:57:15Z</dcterms:created>
  <dcterms:modified xsi:type="dcterms:W3CDTF">2026-01-16T08:50:24Z</dcterms:modified>
</cp:coreProperties>
</file>